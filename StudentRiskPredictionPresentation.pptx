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final grade</c:v>
                </c:pt>
              </c:strCache>
            </c:strRef>
          </c:tx>
          <c:spPr>
            <a:solidFill>
              <a:srgbClr val="3730A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Prior
failures</c:v>
                </c:pt>
                <c:pt idx="1">
                  <c:v>Study
time</c:v>
                </c:pt>
                <c:pt idx="2">
                  <c:v>Going
out</c:v>
                </c:pt>
                <c:pt idx="3">
                  <c:v>Weekday
alcohol</c:v>
                </c:pt>
                <c:pt idx="4">
                  <c:v>Mother's
edu</c:v>
                </c:pt>
                <c:pt idx="5">
                  <c:v>Father's
edu</c:v>
                </c:pt>
                <c:pt idx="6">
                  <c:v>Family
relationship</c:v>
                </c:pt>
                <c:pt idx="7">
                  <c:v>Absences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-0.38</c:v>
                </c:pt>
                <c:pt idx="1">
                  <c:v>0.31</c:v>
                </c:pt>
                <c:pt idx="2">
                  <c:v>-0.23</c:v>
                </c:pt>
                <c:pt idx="3">
                  <c:v>-0.22</c:v>
                </c:pt>
                <c:pt idx="4">
                  <c:v>0.16</c:v>
                </c:pt>
                <c:pt idx="5">
                  <c:v>0.13</c:v>
                </c:pt>
                <c:pt idx="6">
                  <c:v>0.13</c:v>
                </c:pt>
                <c:pt idx="7">
                  <c:v>-0.06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49-4826-8E36-5CBAD7C2B1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-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730A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Gradient Boost</c:v>
                </c:pt>
                <c:pt idx="2">
                  <c:v>XGBoost</c:v>
                </c:pt>
                <c:pt idx="3">
                  <c:v>K-NN</c:v>
                </c:pt>
                <c:pt idx="4">
                  <c:v>Random 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0.38</c:v>
                </c:pt>
                <c:pt idx="2">
                  <c:v>0.38</c:v>
                </c:pt>
                <c:pt idx="3">
                  <c:v>0.24</c:v>
                </c:pt>
                <c:pt idx="4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D3-40C2-A1C7-1045DEE9B6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Gradient Boost</c:v>
                </c:pt>
                <c:pt idx="2">
                  <c:v>XGBoost</c:v>
                </c:pt>
                <c:pt idx="3">
                  <c:v>K-NN</c:v>
                </c:pt>
                <c:pt idx="4">
                  <c:v>Random Forest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0.46</c:v>
                </c:pt>
                <c:pt idx="1">
                  <c:v>0.46</c:v>
                </c:pt>
                <c:pt idx="2">
                  <c:v>0.43</c:v>
                </c:pt>
                <c:pt idx="3">
                  <c:v>0.35</c:v>
                </c:pt>
                <c:pt idx="4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D3-40C2-A1C7-1045DEE9B6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Gradient Boost</c:v>
                </c:pt>
                <c:pt idx="2">
                  <c:v>XGBoost</c:v>
                </c:pt>
                <c:pt idx="3">
                  <c:v>K-NN</c:v>
                </c:pt>
                <c:pt idx="4">
                  <c:v>Random Forest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0.81</c:v>
                </c:pt>
                <c:pt idx="1">
                  <c:v>0.78</c:v>
                </c:pt>
                <c:pt idx="2">
                  <c:v>0.79</c:v>
                </c:pt>
                <c:pt idx="3">
                  <c:v>0.68</c:v>
                </c:pt>
                <c:pt idx="4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D3-40C2-A1C7-1045DEE9B6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730A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Sex (F vs M)</c:v>
                </c:pt>
                <c:pt idx="1">
                  <c:v>Address (Rural vs Urban)</c:v>
                </c:pt>
                <c:pt idx="2">
                  <c:v>School (GP vs MS)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</c:v>
                </c:pt>
                <c:pt idx="1">
                  <c:v>0.95</c:v>
                </c:pt>
                <c:pt idx="2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92-4BBD-8198-24F173A6ED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Sex (F vs M)</c:v>
                </c:pt>
                <c:pt idx="1">
                  <c:v>Address (Rural vs Urban)</c:v>
                </c:pt>
                <c:pt idx="2">
                  <c:v>School (GP vs MS)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</c:v>
                </c:pt>
                <c:pt idx="1">
                  <c:v>0.34</c:v>
                </c:pt>
                <c:pt idx="2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92-4BBD-8198-24F173A6ED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24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Prediction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 Academic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behavioral and engagement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3716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Mogadala  ·  Kritika Joshi  ·  Mary Neha Reddy Thumma  ·  Khadija Warraich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Denver  ·  Final Project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find out a student is failing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midterm grades.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 it is too late.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256032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3291840"/>
            <a:ext cx="54864" cy="109728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retention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leave before help arrives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56032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3291840"/>
            <a:ext cx="54864" cy="109728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dropout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early signals compound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3291840"/>
            <a:ext cx="256032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3291840"/>
            <a:ext cx="54864" cy="109728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support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 go untargeted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academic risk before any course grades exist.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870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87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habits, prior failures, attendance, family background, lifestyle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55448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75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775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compared under 5-fold cross-validation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2638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263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sex, address, and school — not just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1965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752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752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9516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reasons via SHAP and linear coefficients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exclude in-course grades G1 and G2 so the model cannot peek at midterm data.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schema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Cortez &amp; Silva (2008) · Portuguese secondary schools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 ·  30 features after dropping G1/G2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(13): age, parents' education, study time, prior failures, absences, going out, alcohol use, family relationship, health, …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(17): school, sex, urban/rural, family size, parents' jobs, support services, internet, romantic, higher-ed plans, 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005840"/>
            <a:ext cx="3657600" cy="31089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0" y="1005840"/>
            <a:ext cx="36576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BASE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508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30352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score below the pass threshold (G3 &lt; 10 on a 0–20 scale)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3337560"/>
            <a:ext cx="329184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3383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— accuracy alone is misleading. We track Recall, F1, and MCC.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follows UCI schema; pipeline is dataset-agnostic — works on the real UCI CSV unchanged.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risk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beat demographic ones — what students do matters more than who they are.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63040"/>
          <a:ext cx="8229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with final grade G3.  Negative = lower grade.  G1 and G2 excluded.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models, one champion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what matters most for an early-warning system.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417320"/>
            <a:ext cx="2331720" cy="3200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46520" y="1417320"/>
            <a:ext cx="2331720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224028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Highest recall (62%)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21 of 34 at-risk students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Highest ROC-AUC (0.81)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ranking quality overall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Fully interpretable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has a reason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the right metric: missing an at-risk student costs more than briefly checking on a student who's fine.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≠ fairness finding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 on accuracy.  Logistic Regression wins on fairness.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4864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68680" y="2313432"/>
            <a:ext cx="49834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rule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2606040" cy="3108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260604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093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flags rural students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⅓ the rate of urban students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…even though their actual at-risk rates are similar.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accurate model is not the most equitable model.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Impact Ratio = min(selection_rate) / max(selection_rate).  EEOC 80% rule: values ≥ 0.80 are typically acceptable.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has a reason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explanation from log-odds decomposition.  No black-box flags reach an instructor.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· age 18 · Urban · school GP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PROBABILITY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3566160" cy="1097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3538728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AT RISK   ·   Ground truth: AT RISK   ·   ✓ True positive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STUDENT FLAGGED?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73152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 course failures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18288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73152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3317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331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reported study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023360" cy="41148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73152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834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going 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28346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337560"/>
            <a:ext cx="73152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3375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7492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alcohol use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33375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0480"/>
            <a:ext cx="4023360" cy="41148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3840480"/>
            <a:ext cx="73152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38404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7492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education (positive)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3840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contribution = standardized coefficient × standardized feature value.  Mathematically exact for the linear model.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the instructor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demo_dashboard.html now.  200 students from held-out test set.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" y="146304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4340" y="1463040"/>
            <a:ext cx="54864" cy="91440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15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7150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146304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37460" y="146304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46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7462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0580" y="146304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0580" y="146304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77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7774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at 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43700" y="1463040"/>
            <a:ext cx="1965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43700" y="1463040"/>
            <a:ext cx="54864" cy="9144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08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8086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· 62% recall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· sorted by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18 · Urban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17 · Urban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264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5570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557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19 · Rural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557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49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3849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18 · Urban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3849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142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17 · Urban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4142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34840" y="2560320"/>
            <a:ext cx="4251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0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· Student #1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5806440" y="33375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probability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37033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 prior failures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low study time, frequent going out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browser tab now: demo_dashboard.html — single self-contained file, no server needed.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honest limitations and the clearest fix for 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4340" y="155448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7220" y="1737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722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collapsed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" y="2423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K-NN looked 85% accurate but caught fewer than 25% of at-risk students — they defaulted to predicting the majority class.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" y="3703320"/>
            <a:ext cx="2240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2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hyperparameter grids and class-weight tuning would likely recover usable recall.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898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8980" y="155448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1860" y="1737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5186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measured, didn't mitigate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51860" y="2423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disparate impact across sex, address, and school — but we didn't retrain to fix the gaps we found.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1860" y="3703320"/>
            <a:ext cx="2240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5186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5186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XGBoost with a fairness-constrained objective using Fairlearn's ExponentiatedGradient reduction.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0362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3620" y="155448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86500" y="1737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65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end-of-term features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86500" y="24231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once with day-one features. A real early-warning system should re-score weekly as new behavior arrives.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86500" y="3703320"/>
            <a:ext cx="2240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650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86500" y="4023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Canvas LMS API to pull engagement data and produce time-resolved risk that updates each week.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project's known weak spots — every team should be able to name theirs honestly.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integrate with Canvas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already dataset-agnostic.  Canvas API gives us better features and time-resolved risk.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4340" y="1554480"/>
            <a:ext cx="2606040" cy="457200"/>
          </a:xfrm>
          <a:prstGeom prst="rect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434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Canvas LMS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" y="2606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timing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views per week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participation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attempt patterns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898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8980" y="1554480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89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186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trained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3300" y="2606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re-scoring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Time-resolved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classifiers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fairness audit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03620" y="155448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3620" y="1554480"/>
            <a:ext cx="260604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036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8650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instructor 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2606040"/>
            <a:ext cx="2148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sorted by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SHAP explanations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+ audit 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FERPA-compliant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1.3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3716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critiques, edge cases — all welcome.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Mogadala  ·  Kritika Joshi  ·  Mary Neha Reddy Thumma  ·  Khadija Warraich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report, and live dashboard available in the project bundle.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1032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Risk Prediction — Demo</dc:title>
  <dc:subject>PptxGenJS Presentation</dc:subject>
  <dc:creator>Simran Mogadala, Kritika Joshi, Mary Neha Reddy Thumma, Khadija Warraich</dc:creator>
  <cp:lastModifiedBy>Warraich, Khadija</cp:lastModifiedBy>
  <cp:revision>2</cp:revision>
  <dcterms:created xsi:type="dcterms:W3CDTF">2026-05-15T01:47:05Z</dcterms:created>
  <dcterms:modified xsi:type="dcterms:W3CDTF">2026-05-15T01:59:38Z</dcterms:modified>
</cp:coreProperties>
</file>